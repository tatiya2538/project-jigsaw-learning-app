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16.xml"/><Relationship Id="rId6" Type="http://schemas.openxmlformats.org/officeDocument/2006/relationships/slide" Target="slide1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0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1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12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3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5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6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16.xml"/><Relationship Id="rId6" Type="http://schemas.openxmlformats.org/officeDocument/2006/relationships/slide" Target="slide1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7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" Target="slide18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28.xml"/><Relationship Id="rId6" Type="http://schemas.openxmlformats.org/officeDocument/2006/relationships/slide" Target="slide2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19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" Target="slide20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1.xml"/><Relationship Id="rId2" Type="http://schemas.openxmlformats.org/officeDocument/2006/relationships/slide" Target="slide21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2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" Target="slide23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" Target="slide24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" Target="slide25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" Target="slide26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7.xml"/><Relationship Id="rId3" Type="http://schemas.openxmlformats.org/officeDocument/2006/relationships/slide" Target="slide28.xml"/><Relationship Id="rId4" Type="http://schemas.openxmlformats.org/officeDocument/2006/relationships/slide" Target="slide28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28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28.xml"/><Relationship Id="rId6" Type="http://schemas.openxmlformats.org/officeDocument/2006/relationships/slide" Target="slide2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29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18.xml"/><Relationship Id="rId6" Type="http://schemas.openxmlformats.org/officeDocument/2006/relationships/slide" Target="slide1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30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40.xml"/><Relationship Id="rId6" Type="http://schemas.openxmlformats.org/officeDocument/2006/relationships/slide" Target="slide4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slide" Target="slide31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32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3.xml"/><Relationship Id="rId2" Type="http://schemas.openxmlformats.org/officeDocument/2006/relationships/slide" Target="slide33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34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" Target="slide35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36.xml"/><Relationship Id="rId2" Type="http://schemas.openxmlformats.org/officeDocument/2006/relationships/slide" Target="slide36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7.xml"/><Relationship Id="rId2" Type="http://schemas.openxmlformats.org/officeDocument/2006/relationships/slide" Target="slide37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38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39.xml"/><Relationship Id="rId2" Type="http://schemas.openxmlformats.org/officeDocument/2006/relationships/slide" Target="slide39.xml"/><Relationship Id="rId3" Type="http://schemas.openxmlformats.org/officeDocument/2006/relationships/slide" Target="slide40.xml"/><Relationship Id="rId4" Type="http://schemas.openxmlformats.org/officeDocument/2006/relationships/slide" Target="slide40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40.xml"/><Relationship Id="rId2" Type="http://schemas.openxmlformats.org/officeDocument/2006/relationships/slide" Target="slide40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40.xml"/><Relationship Id="rId6" Type="http://schemas.openxmlformats.org/officeDocument/2006/relationships/slide" Target="slide4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41.xml"/><Relationship Id="rId2" Type="http://schemas.openxmlformats.org/officeDocument/2006/relationships/slide" Target="slide41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30.xml"/><Relationship Id="rId6" Type="http://schemas.openxmlformats.org/officeDocument/2006/relationships/slide" Target="slide30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42.xml"/><Relationship Id="rId2" Type="http://schemas.openxmlformats.org/officeDocument/2006/relationships/slide" Target="slide42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2.xml"/><Relationship Id="rId6" Type="http://schemas.openxmlformats.org/officeDocument/2006/relationships/slide" Target="slide5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3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" Target="slide44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45.xml"/><Relationship Id="rId2" Type="http://schemas.openxmlformats.org/officeDocument/2006/relationships/slide" Target="slide45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46.xml"/><Relationship Id="rId2" Type="http://schemas.openxmlformats.org/officeDocument/2006/relationships/slide" Target="slide46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47.xml"/><Relationship Id="rId2" Type="http://schemas.openxmlformats.org/officeDocument/2006/relationships/slide" Target="slide47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48.xml"/><Relationship Id="rId2" Type="http://schemas.openxmlformats.org/officeDocument/2006/relationships/slide" Target="slide48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49.xml"/><Relationship Id="rId2" Type="http://schemas.openxmlformats.org/officeDocument/2006/relationships/slide" Target="slide49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0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51.xml"/><Relationship Id="rId2" Type="http://schemas.openxmlformats.org/officeDocument/2006/relationships/slide" Target="slide51.xml"/><Relationship Id="rId3" Type="http://schemas.openxmlformats.org/officeDocument/2006/relationships/slide" Target="slide52.xml"/><Relationship Id="rId4" Type="http://schemas.openxmlformats.org/officeDocument/2006/relationships/slide" Target="slide52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52.xml"/><Relationship Id="rId2" Type="http://schemas.openxmlformats.org/officeDocument/2006/relationships/slide" Target="slide52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2.xml"/><Relationship Id="rId6" Type="http://schemas.openxmlformats.org/officeDocument/2006/relationships/slide" Target="slide5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53.xml"/><Relationship Id="rId2" Type="http://schemas.openxmlformats.org/officeDocument/2006/relationships/slide" Target="slide5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42.xml"/><Relationship Id="rId6" Type="http://schemas.openxmlformats.org/officeDocument/2006/relationships/slide" Target="slide4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54.xml"/><Relationship Id="rId2" Type="http://schemas.openxmlformats.org/officeDocument/2006/relationships/slide" Target="slide5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64.xml"/><Relationship Id="rId6" Type="http://schemas.openxmlformats.org/officeDocument/2006/relationships/slide" Target="slide6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" Target="slide55.xml"/><Relationship Id="rId2" Type="http://schemas.openxmlformats.org/officeDocument/2006/relationships/slide" Target="slide55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" Target="slide56.xml"/><Relationship Id="rId2" Type="http://schemas.openxmlformats.org/officeDocument/2006/relationships/slide" Target="slide56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" Target="slide57.xml"/><Relationship Id="rId2" Type="http://schemas.openxmlformats.org/officeDocument/2006/relationships/slide" Target="slide57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" Target="slide58.xml"/><Relationship Id="rId2" Type="http://schemas.openxmlformats.org/officeDocument/2006/relationships/slide" Target="slide58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" Target="slide59.xml"/><Relationship Id="rId2" Type="http://schemas.openxmlformats.org/officeDocument/2006/relationships/slide" Target="slide59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" Target="slide60.xml"/><Relationship Id="rId2" Type="http://schemas.openxmlformats.org/officeDocument/2006/relationships/slide" Target="slide60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" Target="slide61.xml"/><Relationship Id="rId2" Type="http://schemas.openxmlformats.org/officeDocument/2006/relationships/slide" Target="slide61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" Target="slide62.xml"/><Relationship Id="rId2" Type="http://schemas.openxmlformats.org/officeDocument/2006/relationships/slide" Target="slide62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" Target="slide63.xml"/><Relationship Id="rId2" Type="http://schemas.openxmlformats.org/officeDocument/2006/relationships/slide" Target="slide63.xml"/><Relationship Id="rId3" Type="http://schemas.openxmlformats.org/officeDocument/2006/relationships/slide" Target="slide64.xml"/><Relationship Id="rId4" Type="http://schemas.openxmlformats.org/officeDocument/2006/relationships/slide" Target="slide64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" Target="slide64.xml"/><Relationship Id="rId2" Type="http://schemas.openxmlformats.org/officeDocument/2006/relationships/slide" Target="slide6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64.xml"/><Relationship Id="rId6" Type="http://schemas.openxmlformats.org/officeDocument/2006/relationships/slide" Target="slide6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" Target="slide65.xml"/><Relationship Id="rId2" Type="http://schemas.openxmlformats.org/officeDocument/2006/relationships/slide" Target="slide65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4.xml"/><Relationship Id="rId6" Type="http://schemas.openxmlformats.org/officeDocument/2006/relationships/slide" Target="slide5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" Target="slide66.xml"/><Relationship Id="rId2" Type="http://schemas.openxmlformats.org/officeDocument/2006/relationships/slide" Target="slide66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76.xml"/><Relationship Id="rId6" Type="http://schemas.openxmlformats.org/officeDocument/2006/relationships/slide" Target="slide7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" Target="slide67.xml"/><Relationship Id="rId2" Type="http://schemas.openxmlformats.org/officeDocument/2006/relationships/slide" Target="slide67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" Target="slide68.xml"/><Relationship Id="rId2" Type="http://schemas.openxmlformats.org/officeDocument/2006/relationships/slide" Target="slide68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" Target="slide69.xml"/><Relationship Id="rId2" Type="http://schemas.openxmlformats.org/officeDocument/2006/relationships/slide" Target="slide69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" Target="slide70.xml"/><Relationship Id="rId2" Type="http://schemas.openxmlformats.org/officeDocument/2006/relationships/slide" Target="slide70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" Target="slide71.xml"/><Relationship Id="rId2" Type="http://schemas.openxmlformats.org/officeDocument/2006/relationships/slide" Target="slide71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" Target="slide72.xml"/><Relationship Id="rId2" Type="http://schemas.openxmlformats.org/officeDocument/2006/relationships/slide" Target="slide72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" Target="slide73.xml"/><Relationship Id="rId2" Type="http://schemas.openxmlformats.org/officeDocument/2006/relationships/slide" Target="slide73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" Target="slide74.xml"/><Relationship Id="rId2" Type="http://schemas.openxmlformats.org/officeDocument/2006/relationships/slide" Target="slide74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" Target="slide75.xml"/><Relationship Id="rId2" Type="http://schemas.openxmlformats.org/officeDocument/2006/relationships/slide" Target="slide75.xml"/><Relationship Id="rId3" Type="http://schemas.openxmlformats.org/officeDocument/2006/relationships/slide" Target="slide76.xml"/><Relationship Id="rId4" Type="http://schemas.openxmlformats.org/officeDocument/2006/relationships/slide" Target="slide76.xml"/><Relationship Id="rId5" Type="http://schemas.openxmlformats.org/officeDocument/2006/relationships/slide" Target="slide4.xml"/><Relationship Id="rId6" Type="http://schemas.openxmlformats.org/officeDocument/2006/relationships/slide" Target="slide4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" Target="slide76.xml"/><Relationship Id="rId2" Type="http://schemas.openxmlformats.org/officeDocument/2006/relationships/slide" Target="slide76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76.xml"/><Relationship Id="rId6" Type="http://schemas.openxmlformats.org/officeDocument/2006/relationships/slide" Target="slide7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" Target="slide77.xml"/><Relationship Id="rId2" Type="http://schemas.openxmlformats.org/officeDocument/2006/relationships/slide" Target="slide77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66.xml"/><Relationship Id="rId6" Type="http://schemas.openxmlformats.org/officeDocument/2006/relationships/slide" Target="slide6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เกมทาย "ฉันคือใคร?"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PowerPoint · โหมดครูพาเล่น (คล้ายหน้าเว็บ)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ใช้ปุ่มด้านล่างของแต่ละสไลด์ · หรือกดลูกศร · คำใบ้เปิดทีละข้อพร้อม fade</a:t>
            </a:r>
            <a:endParaRPr lang="en-US" sz="1400" dirty="0"/>
          </a:p>
        </p:txBody>
      </p:sp>
      <p:sp>
        <p:nvSpPr>
          <p:cNvPr id="5" name="Shape 3">
            <a:hlinkClick r:id="rId1" tooltip="เริ่มดูวิธีเล่น →" action="ppaction://hlinksldjump"/>
          </p:cNvPr>
          <p:cNvSpPr/>
          <p:nvPr/>
        </p:nvSpPr>
        <p:spPr>
          <a:xfrm>
            <a:off x="4709160" y="365760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6" name="Text 4">
            <a:hlinkClick r:id="rId2" tooltip="เริ่มดูวิธีเล่น →" action="ppaction://hlinksldjump"/>
          </p:cNvPr>
          <p:cNvSpPr/>
          <p:nvPr/>
        </p:nvSpPr>
        <p:spPr>
          <a:xfrm>
            <a:off x="47091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ริ่มดูวิธีเล่น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เริ่มดูวิธีเล่น →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วิธีเล่นสำหรับครู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เหมือนโหมด Classroom บนเว็บ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1133856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1) แบ่งนักเรียนเป็น 2–5 ทีม แล้วตั้งชื่อทีมบนกระดานคะแนนด้านขวา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2) แต่ละข้อมีคำใบ้ 10 ข้อ จากยาก → ง่าย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3) กดปุ่ม “เปิดคำใบ้ถัดไป” (หรือลูกศร) เพื่อเปิดทีละข้อ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4) ทีมตอบถูกที่คำใบ้ข้อ N ได้คะแนน (11 − 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5) ตอบผิดไม่หักคะแนน — ให้ทีมถัดไปตอบต่อ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6) กด “เฉลยถูก / ให้คะแนน” เมื่อมีทีมตอบถูก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7) หลังเฉลย อ่านสรุปสั้น ๆ แล้วกด “ข้อต่อไป”</a:t>
            </a:r>
            <a:endParaRPr lang="en-US" sz="1800" dirty="0"/>
          </a:p>
        </p:txBody>
      </p:sp>
      <p:sp>
        <p:nvSpPr>
          <p:cNvPr id="8" name="Shape 6">
            <a:hlinkClick r:id="rId1" tooltip="ตารางคะแนน →" action="ppaction://hlinksldjump"/>
          </p:cNvPr>
          <p:cNvSpPr/>
          <p:nvPr/>
        </p:nvSpPr>
        <p:spPr>
          <a:xfrm>
            <a:off x="9418320" y="61264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9" name="Text 7">
            <a:hlinkClick r:id="rId2" tooltip="ตารางคะแนน →" action="ppaction://hlinksldjump"/>
          </p:cNvPr>
          <p:cNvSpPr/>
          <p:nvPr/>
        </p:nvSpPr>
        <p:spPr>
          <a:xfrm>
            <a:off x="9418320" y="6126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ตารางคะแนน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ตารางคะแนน →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ตารางคะแนน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ตอบเร็วได้คะแนนมาก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188720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3017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คำใบ้ที่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คะแนน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ความยาก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ยากมาก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ยากมาก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ยากมาก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7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ปานกลาง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ปานกลาง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6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ปานกลาง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7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4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ปานกลาง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8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ง่าย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9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2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ง่าย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10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ง่าย</a:t>
                      </a:r>
                      <a:endParaRPr lang="en-US" sz="15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>
            <a:hlinkClick r:id="rId1" tooltip="กระดานคะแนน →" action="ppaction://hlinksldjump"/>
          </p:cNvPr>
          <p:cNvSpPr/>
          <p:nvPr/>
        </p:nvSpPr>
        <p:spPr>
          <a:xfrm>
            <a:off x="9418320" y="61264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8" name="Text 5">
            <a:hlinkClick r:id="rId2" tooltip="กระดานคะแนน →" action="ppaction://hlinksldjump"/>
          </p:cNvPr>
          <p:cNvSpPr/>
          <p:nvPr/>
        </p:nvSpPr>
        <p:spPr>
          <a:xfrm>
            <a:off x="9418320" y="6126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กระดานคะแนน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 →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กระดานคะแนนเต็มจอ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ใช้ตอนสรุป หรือเปิดดูระหว่างเกมด้วยปุ่มด้านล่าง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280160"/>
          <a:ext cx="77724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0175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ทีม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คะแนน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🔵 ทีมพุทธ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🟢 ทีมธรรม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🟡 ทีมปัญญา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🔴 ทีมเมตตา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374151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🟣 ทีมสมาธิ</a:t>
                      </a: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>
            <a:hlinkClick r:id="rId1" tooltip="เริ่มข้อที่ 1 →" action="ppaction://hlinksldjump"/>
          </p:cNvPr>
          <p:cNvSpPr/>
          <p:nvPr/>
        </p:nvSpPr>
        <p:spPr>
          <a:xfrm>
            <a:off x="9144000" y="6126480"/>
            <a:ext cx="2560320" cy="41148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8" name="Text 5">
            <a:hlinkClick r:id="rId2" tooltip="เริ่มข้อที่ 1 →" action="ppaction://hlinksldjump"/>
          </p:cNvPr>
          <p:cNvSpPr/>
          <p:nvPr/>
        </p:nvSpPr>
        <p:spPr>
          <a:xfrm>
            <a:off x="9144000" y="6126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ริ่มข้อที่ 1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เริ่มข้อที่ 1 →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— กดเริ่มคำถามเมื่อพร้อม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97280"/>
            <a:ext cx="836676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พร้อมแล้วกด เริ่มคำถาม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จนกว่าจะกดเริ่ม — เหมือนหน้าเว็บ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29" name="Shape 27">
            <a:hlinkClick r:id="rId1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0" name="Text 28">
            <a:hlinkClick r:id="rId2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เริ่มคำถาม</a:t>
            </a:r>
            <a:endParaRPr lang="en-US" sz="1200" dirty="0"/>
          </a:p>
        </p:txBody>
      </p:sp>
      <p:sp>
        <p:nvSpPr>
          <p:cNvPr id="31" name="Shape 29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3" name="Shape 31">
            <a:hlinkClick r:id="rId5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CA5A5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6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ข้ามไป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ข้ามไปเฉลย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10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“ฉันเคยฝึกคิดและตั้งคำถามมาตั้งแต่ยังเยาว์ ในตระกูลที่ให้ความสำคัญกับความรู้”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2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9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“ฉันเป็นหนึ่งในกลุ่มเพื่อนที่ติดตามการแสวงหาทางพ้นทุกข์ไปด้วยกัน”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1371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3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8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“ฉันเคยผิดหวังเมื่อเห็นเพื่อนหันไปใช้ทางสายกลาง แต่ยังไม่ทิ้งมิตรภาพ”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057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4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7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“สถานที่สำคัญในชีวิตฉันเกี่ยวข้องกับป่าอิสิปตนะแห่งมฤคทายวัน”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743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5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6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“ฉันเข้าใจความจริงจากการฟังเทศนาเรื่องอริยสัจจ์”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3429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6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5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“ฉันได้ชื่อเพิ่มเติมที่แปลว่า “ผู้รู้แจ้ง””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114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7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4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“ฉันชอบอธิบายธรรมด้วยเหตุผล เพื่อให้เพื่อนเข้าใจไปด้วยกัน”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800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8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3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“ฉันเป็นคนแรกในกลุ่มที่เข้าใจธรรมในวันปฐมเทศนา”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5486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9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2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“ฉันคือพระสงฆ์องค์แรกของพระพุทธศาสนา”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172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1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10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“ฉันคือพระอัญญาโกณฑัญญะ ผู้เข้าใจธรรมเป็นคนแรก”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6" name="Shape 34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8" name="Shape 36">
            <a:hlinkClick r:id="rId5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ไปหน้า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ไปหน้าเฉลย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ข้อที่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3716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พระอัญญาโกณฑัญญะ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" y="2194560"/>
            <a:ext cx="7543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พราหมณ์ผู้ติดตามพระพุทธเจ้า และเป็นผู้เข้าใจธรรมจากการฟังปฐมเทศนาเป็นคนแรก จึงได้เป็นพระสงฆ์องค์แรกของพระพุทธศาสนา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คุณธรรม: ใฝ่รู้ · ตั้งใจฟัง · เข้าใจแล้วเล่าต่อ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เรียนรู้เพิ่มเติม: /kondanna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1" name="Shape 29">
            <a:hlinkClick r:id="rId1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E879F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2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ข้อต่อไป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ข้อต่อไป →</a:t>
            </a:r>
            <a:endParaRPr lang="en-US" sz="1200" dirty="0"/>
          </a:p>
        </p:txBody>
      </p:sp>
      <p:sp>
        <p:nvSpPr>
          <p:cNvPr id="33" name="Shape 31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5" name="Shape 33">
            <a:hlinkClick r:id="rId5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6" name="Text 34">
            <a:hlinkClick r:id="rId6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ดู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ดูคำใบ้ข้อ 1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— กดเริ่มคำถามเมื่อพร้อม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97280"/>
            <a:ext cx="836676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พร้อมแล้วกด เริ่มคำถาม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จนกว่าจะกดเริ่ม — เหมือนหน้าเว็บ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29" name="Shape 27">
            <a:hlinkClick r:id="rId1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0" name="Text 28">
            <a:hlinkClick r:id="rId2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เริ่มคำถาม</a:t>
            </a:r>
            <a:endParaRPr lang="en-US" sz="1200" dirty="0"/>
          </a:p>
        </p:txBody>
      </p:sp>
      <p:sp>
        <p:nvSpPr>
          <p:cNvPr id="31" name="Shape 29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3" name="Shape 31">
            <a:hlinkClick r:id="rId5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CA5A5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6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ข้ามไป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ข้ามไปเฉลย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10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“ฉันเคยดูแลเด็กคนหนึ่งด้วยความรัก แม้เขาจะไม่ใช่ลูกแท้ ๆ ของฉัน”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2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9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“ฉันเติบโตในราชตระกูล และเคยมีบทบาทสำคัญในครอบครัวของกษัตริย์ศากยะ”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1371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3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8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“ฉันเคยต้องเผชิญกับการปฏิเสธครั้งแล้วครั้งเล่า แต่ยังไม่ยอมแพ้”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057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4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7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“ฉันนำกลุ่มสตรีเดินทางไกลเพื่อขอโอกาสในการปฏิบัติธรรม”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743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5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6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“ฉันมีความสัมพันธ์ใกล้ชิดกับเจ้าชายสิทธัตถะในฐานะผู้เลี้ยงดู”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3429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6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5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“ฉันเป็นผู้ผลักดันให้สตรีได้มีสิทธิอุปสมบทในพระพุทธศาสนา”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114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7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4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“ฉันขอร้องด้วยความสุภาพและอดทน จนได้รับการอนุญาตในที่สุด”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800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8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3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“ฉันคือพระภิกษุณีองค์แรกของพระพุทธศาสนา”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5486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9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2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“ฉันคือพระมาตุจฉาของพระพุทธเจ้า”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172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2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10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“ฉันคือพระนางมหาประชาบดีโคตมีเถรี”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6" name="Shape 34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8" name="Shape 36">
            <a:hlinkClick r:id="rId5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ไปหน้า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ไปหน้าเฉลย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ข้อที่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3716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พระนางมหาประชาบดีโคตมีเถรี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" y="2194560"/>
            <a:ext cx="7543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พระมาตุจฉาของเจ้าชายสิทธัตถะ ผู้เลี้ยงดูพระองค์ด้วยความเมตตา และเป็นผู้นำการขออนุญาตให้สตรีอุปสมบท จนกลายเป็นพระภิกษุณีองค์แรก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คุณธรรม: เมตตา · อดทน · กล้าขอโอกาสอย่างสุภาพ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เรียนรู้เพิ่มเติม: /gotami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1" name="Shape 29">
            <a:hlinkClick r:id="rId1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E879F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2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ข้อต่อไป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ข้อต่อไป →</a:t>
            </a:r>
            <a:endParaRPr lang="en-US" sz="1200" dirty="0"/>
          </a:p>
        </p:txBody>
      </p:sp>
      <p:sp>
        <p:nvSpPr>
          <p:cNvPr id="33" name="Shape 31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5" name="Shape 33">
            <a:hlinkClick r:id="rId5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6" name="Text 34">
            <a:hlinkClick r:id="rId6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ดู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ดูคำใบ้ข้อ 1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— กดเริ่มคำถามเมื่อพร้อม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97280"/>
            <a:ext cx="836676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พร้อมแล้วกด เริ่มคำถาม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จนกว่าจะกดเริ่ม — เหมือนหน้าเว็บ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29" name="Shape 27">
            <a:hlinkClick r:id="rId1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0" name="Text 28">
            <a:hlinkClick r:id="rId2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เริ่มคำถาม</a:t>
            </a:r>
            <a:endParaRPr lang="en-US" sz="1200" dirty="0"/>
          </a:p>
        </p:txBody>
      </p:sp>
      <p:sp>
        <p:nvSpPr>
          <p:cNvPr id="31" name="Shape 29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3" name="Shape 31">
            <a:hlinkClick r:id="rId5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CA5A5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6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ข้ามไป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ข้ามไปเฉลย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10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“ฉันเคยหลีกเลี่ยงสิ่งที่ทำให้ต้องเผชิญความจริงเกี่ยวกับความไม่เที่ยง”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2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9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“ฉันเคยผูกใจกับสิ่งภายนอกมาก จนกลัวการฟังธรรมบางเรื่อง”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1371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3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8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“วันหนึ่งฉันได้เห็นภาพความงามที่ค่อย ๆ เปลี่ยนไปต่อหน้า”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057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4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7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“ฉันเคยมีตำแหน่งสูงในราชสำนักก่อนจะหันมาฝึกฝนทางธรรม”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743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5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6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“ฉันเคยเป็นพระราชเทวีของพระเจ้าพิมพิสาร”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3429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6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5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“จุดเปลี่ยนของฉันคือการเข้าใจว่าความงามภายนอกอยู่ได้ไม่นาน”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114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7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4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“หลังปล่อยวาง ฉันอุปสมบทและฝึกคิดอย่างมีเหตุผล”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800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8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3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“ฉันได้รับการยกย่องว่าเลิศทางปัญญาในหมู่ภิกษุณี”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5486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9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2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“ฉันเคยยึดติดความงาม แล้วเปลี่ยนมาพัฒนาปัญญา”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172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3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10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“ฉันคือพระนางเขมาเถรี ผู้เลิศทางปัญญา”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6" name="Shape 34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8" name="Shape 36">
            <a:hlinkClick r:id="rId5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ไปหน้า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ไปหน้าเฉลย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ข้อที่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3716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พระนางเขมาเถรี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" y="2194560"/>
            <a:ext cx="7543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อดีตพระราชเทวีที่เคยยึดติดความงาม แล้วหันมาพัฒนาปัญญาจนได้รับการยกย่องว่าเป็นผู้เลิศทางปัญญาในหมู่ภิกษุณี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คุณธรรม: ปล่อยวาง · ใช้เหตุผล · กล้าเปลี่ยนแปลงตนเอง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เรียนรู้เพิ่มเติม: /khema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1" name="Shape 29">
            <a:hlinkClick r:id="rId1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E879F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2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ข้อต่อไป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ข้อต่อไป →</a:t>
            </a:r>
            <a:endParaRPr lang="en-US" sz="1200" dirty="0"/>
          </a:p>
        </p:txBody>
      </p:sp>
      <p:sp>
        <p:nvSpPr>
          <p:cNvPr id="33" name="Shape 31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5" name="Shape 33">
            <a:hlinkClick r:id="rId5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6" name="Text 34">
            <a:hlinkClick r:id="rId6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ดู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ดูคำใบ้ข้อ 1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— กดเริ่มคำถามเมื่อพร้อม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97280"/>
            <a:ext cx="836676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พร้อมแล้วกด เริ่มคำถาม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จนกว่าจะกดเริ่ม — เหมือนหน้าเว็บ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29" name="Shape 27">
            <a:hlinkClick r:id="rId1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0" name="Text 28">
            <a:hlinkClick r:id="rId2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เริ่มคำถาม</a:t>
            </a:r>
            <a:endParaRPr lang="en-US" sz="1200" dirty="0"/>
          </a:p>
        </p:txBody>
      </p:sp>
      <p:sp>
        <p:nvSpPr>
          <p:cNvPr id="31" name="Shape 29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3" name="Shape 31">
            <a:hlinkClick r:id="rId5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CA5A5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6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ข้ามไป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ข้ามไปเฉลย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10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“ฉันเคยตัดสินใจจากอารมณ์ แล้วค่อยเรียนรู้ว่าควรฟังให้รอบคอบกว่านั้น”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2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9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“ฉันปกครองดินแดนที่มีเมืองสำคัญชื่อสาวัตถี”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1371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3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8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“ฉันมักไปปรึกษาและสนทนาธรรมกับพระพุทธเจ้าบ่อยครั้ง”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057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4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7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“ฉันเรียนรู้ว่าอำนาจยิ่งใหญ่ต้องคู่กับความรับผิดชอบ”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743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5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6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“ฉันเป็นกษัตริย์ร่วมสมัยพระพุทธเจ้า”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3429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6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5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“ฉันปกครองแคว้นโกศล”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114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7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4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“ฉันพยายามใช้ธรรมเป็นหลักในการปกครองมากกว่าใช้โทสะ”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800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8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3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“ฉันคือตัวอย่างของผู้นำที่รับฟังและแก้ไขตนเองได้”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5486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9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2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“ฉันคือพระราชาผู้ปกครองด้วยธรรม”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172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4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10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“ฉันคือพระเจ้าปเสนทิโกศล”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6" name="Shape 34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8" name="Shape 36">
            <a:hlinkClick r:id="rId5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ไปหน้า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ไปหน้าเฉลย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ข้อที่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3716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พระเจ้าปเสนทิโกศล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" y="2194560"/>
            <a:ext cx="7543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กษัตริย์แคว้นโกศลผู้ใฝ่ธรรม รู้จักฟังคำแนะนำ และปกครองบ้านเมืองด้วยความยุติธรรมมากกว่าอารมณ์ชั่ววูบ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คุณธรรม: ยุติธรรม · รับฟัง · ใฝ่ธรรม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เรียนรู้เพิ่มเติม: /pasenadi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1" name="Shape 29">
            <a:hlinkClick r:id="rId1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E879F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2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ข้อต่อไป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ข้อต่อไป →</a:t>
            </a:r>
            <a:endParaRPr lang="en-US" sz="1200" dirty="0"/>
          </a:p>
        </p:txBody>
      </p:sp>
      <p:sp>
        <p:nvSpPr>
          <p:cNvPr id="33" name="Shape 31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5" name="Shape 33">
            <a:hlinkClick r:id="rId5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6" name="Text 34">
            <a:hlinkClick r:id="rId6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ดู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ดูคำใบ้ข้อ 1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— กดเริ่มคำถามเมื่อพร้อม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97280"/>
            <a:ext cx="836676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พร้อมแล้วกด เริ่มคำถาม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จนกว่าจะกดเริ่ม — เหมือนหน้าเว็บ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29" name="Shape 27">
            <a:hlinkClick r:id="rId1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0" name="Text 28">
            <a:hlinkClick r:id="rId2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เริ่มคำถาม</a:t>
            </a:r>
            <a:endParaRPr lang="en-US" sz="1200" dirty="0"/>
          </a:p>
        </p:txBody>
      </p:sp>
      <p:sp>
        <p:nvSpPr>
          <p:cNvPr id="31" name="Shape 29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3" name="Shape 31">
            <a:hlinkClick r:id="rId5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CA5A5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6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ข้ามไป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ข้ามไปเฉลย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10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“ฉันเติบโตในครอบครัวที่ให้ความสำคัญกับการศึกษาประวัติศาสตร์และวัฒนธรรม”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2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9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“ฉันใช้ชีวิตในยุคที่บ้านเมืองกำลังเปลี่ยนแปลงสู่สมัยใหม่”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1371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3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8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“ฉันสนใจทั้งความรู้ทางโลกและหลักธรรมทางพระพุทธศาสนา”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057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4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7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“ฉันช่วยถ่ายทอดความรู้ให้คนรุ่นหลังเข้าใจพุทธศาสนาได้ง่ายขึ้น”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743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5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6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“ฉันมีบรรดาศักดิ์ระดับหม่อมเจ้า”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3429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6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5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“บิดาของฉันเป็นนักปราชญ์สำคัญด้านประวัติศาสตร์ไทย”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114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7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4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“ฉันเป็นพระราชธิดาในกรมพระยาดำรงราชานุภาพ”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800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8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3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“ฉันคือนักปราชญ์หญิงผู้เผยแพร่ความรู้พุทธศาสนา”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5486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9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2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“ฉันคือหม่อมเจ้าหญิงที่มีผลงานด้านการศึกษาธรรม”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172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5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10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“ฉันคือหม่อมเจ้าหญิงพูนพิศมัย ดิศกุล”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6" name="Shape 34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8" name="Shape 36">
            <a:hlinkClick r:id="rId5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ไปหน้า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ไปหน้าเฉลย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ข้อที่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3716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หม่อมเจ้าหญิงพูนพิศมัย ดิศกุล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" y="2194560"/>
            <a:ext cx="7543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พระราชธิดาในสมเด็จพระเจ้าบรมวงศ์เธอ กรมพระยาดำรงราชานุภาพ นักปราชญ์ผู้ศึกษาและเผยแพร่ความรู้พระพุทธศาสนาอย่างเป็นระบบ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คุณธรรม: ใฝ่ศึกษา · เผยแพร่ความรู้ · รักษาภูมิปัญญา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เรียนรู้เพิ่มเติม: /poonpismai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1" name="Shape 29">
            <a:hlinkClick r:id="rId1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E879F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2" tooltip="ข้อต่อไป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ข้อต่อไป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ข้อต่อไป →</a:t>
            </a:r>
            <a:endParaRPr lang="en-US" sz="1200" dirty="0"/>
          </a:p>
        </p:txBody>
      </p:sp>
      <p:sp>
        <p:nvSpPr>
          <p:cNvPr id="33" name="Shape 31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5" name="Shape 33">
            <a:hlinkClick r:id="rId5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6" name="Text 34">
            <a:hlinkClick r:id="rId6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ดู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ดูคำใบ้ข้อ 1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— กดเริ่มคำถามเมื่อพร้อม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97280"/>
            <a:ext cx="836676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พร้อมแล้วกด เริ่มคำถาม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ยังไม่เปิดคำใบ้ จนกว่าจะกดเริ่ม — เหมือนหน้าเว็บ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29" name="Shape 27">
            <a:hlinkClick r:id="rId1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0" name="Text 28">
            <a:hlinkClick r:id="rId2" tooltip="เปิดคำใบ้ข้อ 1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เริ่มคำถาม</a:t>
            </a:r>
            <a:endParaRPr lang="en-US" sz="1200" dirty="0"/>
          </a:p>
        </p:txBody>
      </p:sp>
      <p:sp>
        <p:nvSpPr>
          <p:cNvPr id="31" name="Shape 29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3" name="Shape 31">
            <a:hlinkClick r:id="rId5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CA5A5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6" tooltip="ข้ามไป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ข้ามไป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ข้ามไปเฉลย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10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“ฉันเชื่อว่าความรู้ต้องเดินคู่กับคุณธรรม จึงจะเป็นประโยชน์แก่สังคม”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2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9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“ฉันเคยทำงานในระบบยุติธรรมและวงการกฎหมายของประเทศ”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1371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3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8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“ฉันเคยมีบทบาทสำคัญในช่วงเวลาที่บ้านเมืองต้องการความสงบและหลักการ”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057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4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7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“ฉันได้รับยกย่องในฐานะผู้ใหญ่ที่น่าเชื่อถือและมีหลักยึด”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2743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5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6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“ฉันเคยดำรงตำแหน่งสูงสุดในฝ่ายบริหารของประเทศ”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3429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6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5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“ฉันเป็นทั้งนักกฎหมายและผู้นำทางการเมือง”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1148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7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4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“ฉันเคยเป็นนายกรัฐมนตรีของประเทศไทย”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48006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8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3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“ฉันคือศาสตราจารย์ด้านกฎหมายที่ยึดมั่นในธรรม”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54864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9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2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“ฉันคืออดีตนายกรัฐมนตรีผู้มีคุณธรรมเป็นที่กล่าวถึง”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1722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ปิดคำใบ้ถัดไป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ปิดคำใบ้ถัดไป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เปิดคำใบ้ถัดไป</a:t>
            </a:r>
            <a:endParaRPr lang="en-US" sz="1200" dirty="0"/>
          </a:p>
        </p:txBody>
      </p:sp>
      <p:sp>
        <p:nvSpPr>
          <p:cNvPr id="36" name="Shape 34">
            <a:hlinkClick r:id="rId3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เฉลยถูก / ให้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8" name="Shape 36">
            <a:hlinkClick r:id="rId5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กระดานคะแนน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24344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24344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ตอบผิด → ทีมถัดไป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🎮 ข้อที่ 6 / 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Classroom Mode · คำใบ้ทีละข้อ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คำใบ้ที่ 10 จาก 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34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 1 คะแนน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2011680"/>
            <a:ext cx="7635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“ฉันคือศาสตราจารย์สัญญา ธรรมศักดิ์”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4846320"/>
            <a:ext cx="6858000" cy="164592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10/10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4" name="Shape 32">
            <a:hlinkClick r:id="rId1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5" name="Text 33">
            <a:hlinkClick r:id="rId2" tooltip="เฉลยถูก / ให้คะแนน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เฉลยถูก / ให้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เฉลยถูก / ให้คะแนน</a:t>
            </a:r>
            <a:endParaRPr lang="en-US" sz="1200" dirty="0"/>
          </a:p>
        </p:txBody>
      </p:sp>
      <p:sp>
        <p:nvSpPr>
          <p:cNvPr id="36" name="Shape 34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7" name="Text 35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8" name="Shape 36">
            <a:hlinkClick r:id="rId5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B923C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9" name="Text 37">
            <a:hlinkClick r:id="rId6" tooltip="ไปหน้าเฉลย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ไปหน้าเฉลย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ไปหน้าเฉลย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572000" cy="3657600"/>
          </a:xfrm>
          <a:prstGeom prst="ellipse">
            <a:avLst/>
          </a:prstGeom>
          <a:solidFill>
            <a:srgbClr val="FDE6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3200400"/>
          </a:xfrm>
          <a:prstGeom prst="ellipse">
            <a:avLst/>
          </a:prstGeom>
          <a:solidFill>
            <a:srgbClr val="A7F3D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ข้อที่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06840" y="228600"/>
            <a:ext cx="2880360" cy="4892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65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กระดานคะแนน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0" y="6583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เขียนคะแนนระหว่างเกม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89720" y="105156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097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🔵 ทีมพุทธ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81160" y="13441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89720" y="178308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8288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ทีมธรรม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81160" y="20756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51460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603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ทีมปัญญา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2807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24612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291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ทีมเมตตา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35387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977640"/>
            <a:ext cx="2514600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🟣 ทีมสมาธิ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4270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_____ คะแนน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051560"/>
            <a:ext cx="8366760" cy="448056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137160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ศาสตราจารย์สัญญา ธรรมศักดิ์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2960" y="2194560"/>
            <a:ext cx="7543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นักกฎหมายและอดีตนายกรัฐมนตรี ผู้ยึดมั่นในคุณธรรม ความซื่อสัตย์ และการใช้กฎหมายอย่างเป็นธรรมเพื่อประโยชน์ส่วนรวม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114800"/>
            <a:ext cx="7543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คุณธรรม: ซื่อสัตย์ · ยุติธรรม · รับผิดชอบต่อส่วนรวม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เรียนรู้เพิ่มเติม: /sanya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5806440"/>
            <a:ext cx="1133856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52400" dist="38100" dir="16200000">
              <a:srgbClr val="374151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5870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แผงควบคุมครู</a:t>
            </a:r>
            <a:endParaRPr lang="en-US" sz="1000" dirty="0"/>
          </a:p>
        </p:txBody>
      </p:sp>
      <p:sp>
        <p:nvSpPr>
          <p:cNvPr id="31" name="Shape 29">
            <a:hlinkClick r:id="rId1" tooltip="จบเกม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E879F9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2" name="Text 30">
            <a:hlinkClick r:id="rId2" tooltip="จบเกม →" action="ppaction://hlinksldjump"/>
          </p:cNvPr>
          <p:cNvSpPr/>
          <p:nvPr/>
        </p:nvSpPr>
        <p:spPr>
          <a:xfrm>
            <a:off x="548640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จบเกม →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จบเกม →</a:t>
            </a:r>
            <a:endParaRPr lang="en-US" sz="1200" dirty="0"/>
          </a:p>
        </p:txBody>
      </p:sp>
      <p:sp>
        <p:nvSpPr>
          <p:cNvPr id="33" name="Shape 31">
            <a:hlinkClick r:id="rId3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4" name="Text 32">
            <a:hlinkClick r:id="rId4" tooltip="กระดานคะแนน" action="ppaction://hlinksldjump"/>
          </p:cNvPr>
          <p:cNvSpPr/>
          <p:nvPr/>
        </p:nvSpPr>
        <p:spPr>
          <a:xfrm>
            <a:off x="2807208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35" name="Shape 33">
            <a:hlinkClick r:id="rId5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36" name="Text 34">
            <a:hlinkClick r:id="rId6" tooltip="ดูคำใบ้ข้อ 1" action="ppaction://hlinksldjump"/>
          </p:cNvPr>
          <p:cNvSpPr/>
          <p:nvPr/>
        </p:nvSpPr>
        <p:spPr>
          <a:xfrm>
            <a:off x="5065776" y="6126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6" action="ppaction://hlinksldjump" tooltip="ดูคำใบ้ข้อ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ดูคำใบ้ข้อ 1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🏆 จบเกมแล้ว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สรุปคะแนน · ชื่นชมผู้ชนะ · ทบทวนสิ่งที่ได้เรียนรู้</a:t>
            </a:r>
            <a:endParaRPr lang="en-US" sz="1800" dirty="0"/>
          </a:p>
        </p:txBody>
      </p:sp>
      <p:sp>
        <p:nvSpPr>
          <p:cNvPr id="4" name="Shape 2">
            <a:hlinkClick r:id="rId1" tooltip="กระดานคะแนน" action="ppaction://hlinksldjump"/>
          </p:cNvPr>
          <p:cNvSpPr/>
          <p:nvPr/>
        </p:nvSpPr>
        <p:spPr>
          <a:xfrm>
            <a:off x="4023360" y="393192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FDE68A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5" name="Text 3">
            <a:hlinkClick r:id="rId2" tooltip="กระดานคะแนน" action="ppaction://hlinksldjump"/>
          </p:cNvPr>
          <p:cNvSpPr/>
          <p:nvPr/>
        </p:nvSpPr>
        <p:spPr>
          <a:xfrm>
            <a:off x="402336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2" action="ppaction://hlinksldjump" tooltip="กระดานคะแน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กระดานคะแนน</a:t>
            </a:r>
            <a:endParaRPr lang="en-US" sz="1200" dirty="0"/>
          </a:p>
        </p:txBody>
      </p:sp>
      <p:sp>
        <p:nvSpPr>
          <p:cNvPr id="6" name="Shape 4">
            <a:hlinkClick r:id="rId3" tooltip="เล่นใหม่" action="ppaction://hlinksldjump"/>
          </p:cNvPr>
          <p:cNvSpPr/>
          <p:nvPr/>
        </p:nvSpPr>
        <p:spPr>
          <a:xfrm>
            <a:off x="6217920" y="393192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16200000">
              <a:srgbClr val="F59E0B">
                <a:alpha val="14000"/>
              </a:srgbClr>
            </a:outerShdw>
          </a:effectLst>
        </p:spPr>
      </p:sp>
      <p:sp>
        <p:nvSpPr>
          <p:cNvPr id="7" name="Text 5">
            <a:hlinkClick r:id="rId4" tooltip="เล่นใหม่" action="ppaction://hlinksldjump"/>
          </p:cNvPr>
          <p:cNvSpPr/>
          <p:nvPr/>
        </p:nvSpPr>
        <p:spPr>
          <a:xfrm>
            <a:off x="621792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  <a:hlinkClick r:id="rId4" action="ppaction://hlinksldjump" tooltip="เล่นใหม่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เล่นใหม่</a:t>
            </a:r>
            <a:endParaRPr lang="en-US" sz="1200" dirty="0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เกมทาย "ฉันคือใคร?" Classroom Edition</dc:title>
  <dc:subject>PptxGenJS Presentation</dc:subject>
  <dc:creator>ศูนย์สื่อการเรียนรู้ดิจิทัลพระพุทธศาสนา</dc:creator>
  <cp:lastModifiedBy>ศูนย์สื่อการเรียนรู้ดิจิทัลพระพุทธศาสนา</cp:lastModifiedBy>
  <cp:revision>1</cp:revision>
  <dcterms:created xsi:type="dcterms:W3CDTF">2026-07-21T07:01:10Z</dcterms:created>
  <dcterms:modified xsi:type="dcterms:W3CDTF">2026-07-21T07:01:10Z</dcterms:modified>
</cp:coreProperties>
</file>